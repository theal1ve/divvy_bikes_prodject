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Oswald" panose="00000500000000000000" pitchFamily="2" charset="-52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17180ae4e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17180ae4e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17180ae4e_5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17180ae4e_5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7180ae4e_5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7180ae4e_5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17180ae4e_5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17180ae4e_5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17180ae4e_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17180ae4e_5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17180ae4e_5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17180ae4e_5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7180ae4e_5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17180ae4e_5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217180ae4e_5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217180ae4e_5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17180ae4e_5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17180ae4e_5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17180ae4e_5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17180ae4e_5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17180ae4e_5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17180ae4e_5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17180ae4e_5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17180ae4e_5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17180ae4e_5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17180ae4e_5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1061" t="1063" r="1510" b="1404"/>
          <a:stretch/>
        </p:blipFill>
        <p:spPr>
          <a:xfrm>
            <a:off x="470000" y="602213"/>
            <a:ext cx="4102000" cy="39390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40625" y="1591650"/>
            <a:ext cx="32175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Велопрокат</a:t>
            </a:r>
            <a:endParaRPr sz="49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576275" y="2318850"/>
            <a:ext cx="2746200" cy="17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Работали: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Марченко Андрей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Шаров Михаил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Кусмарцев Владимир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25" y="780026"/>
            <a:ext cx="7310749" cy="358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25" y="716775"/>
            <a:ext cx="47339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425" y="1498025"/>
            <a:ext cx="7620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6150" y="1474213"/>
            <a:ext cx="11620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96138" y="1769488"/>
            <a:ext cx="105727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2836350" y="2318675"/>
            <a:ext cx="34713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Subscriber = member</a:t>
            </a:r>
            <a:endParaRPr sz="31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Customer = casual</a:t>
            </a:r>
            <a:endParaRPr sz="31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875" y="658600"/>
            <a:ext cx="1527368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3793" y="3305975"/>
            <a:ext cx="169545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5768" y="1513925"/>
            <a:ext cx="27527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7243" y="2892875"/>
            <a:ext cx="22002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95993" y="431675"/>
            <a:ext cx="198120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816" y="390145"/>
            <a:ext cx="5944797" cy="1840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8816" y="2425446"/>
            <a:ext cx="5944797" cy="23855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578376" y="1163419"/>
            <a:ext cx="16722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 Квартал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78376" y="3348294"/>
            <a:ext cx="1672200" cy="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2 Квартал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0888" y="181225"/>
            <a:ext cx="6122225" cy="21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0889" y="2465275"/>
            <a:ext cx="7418875" cy="2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073" y="3065650"/>
            <a:ext cx="1289975" cy="4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075" y="3538900"/>
            <a:ext cx="1289975" cy="2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/>
          <p:nvPr/>
        </p:nvSpPr>
        <p:spPr>
          <a:xfrm>
            <a:off x="68525" y="3053425"/>
            <a:ext cx="288300" cy="91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56825" y="3863625"/>
            <a:ext cx="17067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Май 2015</a:t>
            </a:r>
            <a:endParaRPr sz="1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550" y="282398"/>
            <a:ext cx="5027074" cy="17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7750" y="2306825"/>
            <a:ext cx="7507551" cy="257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073" y="3065650"/>
            <a:ext cx="1289975" cy="4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075" y="3538900"/>
            <a:ext cx="1289975" cy="2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/>
          <p:nvPr/>
        </p:nvSpPr>
        <p:spPr>
          <a:xfrm>
            <a:off x="68525" y="3053425"/>
            <a:ext cx="288300" cy="91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356825" y="3964525"/>
            <a:ext cx="17067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Май 2015</a:t>
            </a:r>
            <a:endParaRPr sz="1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1499526"/>
            <a:ext cx="8058151" cy="21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148" y="355500"/>
            <a:ext cx="1289975" cy="4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3150" y="828750"/>
            <a:ext cx="1289975" cy="26106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3199600" y="343275"/>
            <a:ext cx="288300" cy="91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4923700" y="599925"/>
            <a:ext cx="17067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Май 2015</a:t>
            </a:r>
            <a:endParaRPr sz="18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25" y="498400"/>
            <a:ext cx="4521996" cy="195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688" y="2733772"/>
            <a:ext cx="4436875" cy="195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2925" y="569124"/>
            <a:ext cx="4122374" cy="18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0662" y="2777600"/>
            <a:ext cx="4224637" cy="1864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50" y="1271100"/>
            <a:ext cx="4235050" cy="26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8750" y="1271099"/>
            <a:ext cx="3880925" cy="23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840D70-75BD-09B9-DD44-17FBD9CE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" y="73153"/>
            <a:ext cx="4436551" cy="273405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B23B5-C970-576B-0D3E-5FF4896F1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665" y="2385574"/>
            <a:ext cx="4495335" cy="275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0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/>
        </p:nvSpPr>
        <p:spPr>
          <a:xfrm>
            <a:off x="1590450" y="1319250"/>
            <a:ext cx="5963100" cy="25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Юнит-экономика “Casual”</a:t>
            </a:r>
            <a:endParaRPr sz="25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 основном люди, которые катаются с 10-19 без выраженных пиков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Катаются примерно в 3 раза дольше “Member”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Чаще катаются по выходным, чем по будням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Имеют более выраженные популярные станции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/>
        </p:nvSpPr>
        <p:spPr>
          <a:xfrm>
            <a:off x="731700" y="1319250"/>
            <a:ext cx="7680600" cy="25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Юнит-экономика “Member”</a:t>
            </a:r>
            <a:r>
              <a:rPr lang="en" sz="12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sz="12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имеют ярко выраженные час-пики примерно в 7 утра и 5 вечера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Катаются слегка реже по выходным, чем по будням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Активность по станциям распределена более равномерно, чем у “Casual”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Средний возраст около 35 лет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Отношение мужчин к женщинам - 3:1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/>
        </p:nvSpPr>
        <p:spPr>
          <a:xfrm>
            <a:off x="400050" y="1673250"/>
            <a:ext cx="8343900" cy="17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 целом:</a:t>
            </a:r>
            <a:endParaRPr sz="2500" b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рынок растущий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средний возраст в период с 2014 - 2019 гг. уменьшался</a:t>
            </a:r>
            <a:endParaRPr sz="20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Char char="●"/>
            </a:pPr>
            <a:r>
              <a:rPr lang="en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В этот же промежуток отношение мужчин к женщинам тоже уменьшалось</a:t>
            </a:r>
            <a:endParaRPr sz="22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135</Words>
  <Application>Microsoft Office PowerPoint</Application>
  <PresentationFormat>Экран (16:9)</PresentationFormat>
  <Paragraphs>27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Oswald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Андрейка Батарейка</cp:lastModifiedBy>
  <cp:revision>2</cp:revision>
  <dcterms:modified xsi:type="dcterms:W3CDTF">2024-12-21T15:07:33Z</dcterms:modified>
</cp:coreProperties>
</file>